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61" r:id="rId6"/>
    <p:sldId id="262" r:id="rId7"/>
    <p:sldId id="265" r:id="rId8"/>
    <p:sldId id="267" r:id="rId9"/>
    <p:sldId id="268" r:id="rId10"/>
    <p:sldId id="269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a.springernature.com/lw685/springer-static/image/art%3A10.1007%2Fs10115-024-02257-6/MediaObjects/10115_2024_2257_Fig8_HTML.png" TargetMode="External"/><Relationship Id="rId3" Type="http://schemas.openxmlformats.org/officeDocument/2006/relationships/hyperlink" Target="https://www.researchgate.net/figure/Classification-of-federated-learning-in-10-a-Horizontal-federated-learning-HFL_fig1_378809686" TargetMode="External"/><Relationship Id="rId7" Type="http://schemas.openxmlformats.org/officeDocument/2006/relationships/hyperlink" Target="https://media.springernature.com/lw685/springer-static/image/chp%3A10.1007%2F978-981-95-3543-9_21/MediaObjects/654870_1_En_21_Fig1_HTML.png" TargetMode="External"/><Relationship Id="rId2" Type="http://schemas.openxmlformats.org/officeDocument/2006/relationships/hyperlink" Target="https://cloud.google.com/discover/what-is-federated-learn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machine-learning/collaborative-learning-federated-learning/" TargetMode="External"/><Relationship Id="rId5" Type="http://schemas.openxmlformats.org/officeDocument/2006/relationships/hyperlink" Target="https://www.youtube.com/watch?v=89BGjQYA0uE" TargetMode="External"/><Relationship Id="rId4" Type="http://schemas.openxmlformats.org/officeDocument/2006/relationships/hyperlink" Target="https://onlinelibrary.wiley.com/doi/10.1155/2021/8261663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8"/>
            <a:ext cx="6112253" cy="2029457"/>
          </a:xfrm>
        </p:spPr>
        <p:txBody>
          <a:bodyPr>
            <a:normAutofit/>
          </a:bodyPr>
          <a:lstStyle/>
          <a:p>
            <a:r>
              <a:rPr lang="en-US" sz="4800" dirty="0"/>
              <a:t>Federated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3575" y="4562347"/>
            <a:ext cx="6599649" cy="2127701"/>
          </a:xfrm>
        </p:spPr>
        <p:txBody>
          <a:bodyPr numCol="1">
            <a:noAutofit/>
          </a:bodyPr>
          <a:lstStyle/>
          <a:p>
            <a:pPr lvl="1">
              <a:spcBef>
                <a:spcPts val="600"/>
              </a:spcBef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M.Sc. Semester III</a:t>
            </a:r>
          </a:p>
          <a:p>
            <a:pPr lvl="1">
              <a:spcBef>
                <a:spcPts val="600"/>
              </a:spcBef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Paper Code: CSMP-306</a:t>
            </a:r>
          </a:p>
          <a:p>
            <a:pPr lvl="1">
              <a:spcBef>
                <a:spcPts val="600"/>
              </a:spcBef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Session: 2025-26</a:t>
            </a:r>
          </a:p>
          <a:p>
            <a:pPr lvl="1">
              <a:spcBef>
                <a:spcPts val="600"/>
              </a:spcBef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Debottam Kar</a:t>
            </a:r>
          </a:p>
          <a:p>
            <a:pPr lvl="1">
              <a:spcBef>
                <a:spcPts val="600"/>
              </a:spcBef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CU Roll: C91/CSC/241011</a:t>
            </a:r>
          </a:p>
          <a:p>
            <a:pPr lvl="1">
              <a:spcBef>
                <a:spcPts val="600"/>
              </a:spcBef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Reg. No: 313-1111-0359-21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3089E-EABF-E816-0D9F-1382581C4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Introduction</a:t>
            </a:r>
            <a:r>
              <a:rPr lang="en-IN" sz="3600" dirty="0"/>
              <a:t>: What is Federated Learning?  </a:t>
            </a:r>
            <a:br>
              <a:rPr lang="en-IN" sz="3600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84F73-CAA8-1216-CD8E-3C492CB0B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Federated learning is a machine learning approach where multiple devices or organizations collaboratively train a shared model without sharing their raw data.  </a:t>
            </a:r>
          </a:p>
          <a:p>
            <a:r>
              <a:rPr lang="en-IN" dirty="0"/>
              <a:t>Instead of sending data to a central server, each participant:</a:t>
            </a:r>
          </a:p>
          <a:p>
            <a:pPr lvl="0"/>
            <a:r>
              <a:rPr lang="en-IN" dirty="0"/>
              <a:t>1. Downloads the current global model. </a:t>
            </a:r>
          </a:p>
          <a:p>
            <a:pPr lvl="0"/>
            <a:r>
              <a:rPr lang="en-IN" dirty="0"/>
              <a:t>2. Trains it locally on their own data. </a:t>
            </a:r>
          </a:p>
          <a:p>
            <a:pPr lvl="0"/>
            <a:r>
              <a:rPr lang="en-IN" dirty="0"/>
              <a:t>3. Sends only the updated model parameters (not the data) back to a central server. </a:t>
            </a:r>
          </a:p>
          <a:p>
            <a:pPr lvl="0"/>
            <a:r>
              <a:rPr lang="en-IN" dirty="0"/>
              <a:t>4. The server aggregates all updates to improve the global model. </a:t>
            </a:r>
          </a:p>
          <a:p>
            <a:pPr lvl="0"/>
            <a:r>
              <a:rPr lang="en-IN" dirty="0"/>
              <a:t>5. The process repeats.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3341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4CD83-AAF6-6DAB-8E4C-037275F00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Traditional Machine Learning vs Federated Learning </a:t>
            </a:r>
            <a:endParaRPr lang="en-IN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2C65A5-8DDA-4C9D-F46D-3D4D63F29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224" y="2102313"/>
            <a:ext cx="3972479" cy="33246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9393E5-2079-4963-1248-F983E91819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554" y="2102313"/>
            <a:ext cx="4086795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879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C605406-E9F4-3193-3313-A5351955BD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526462"/>
              </p:ext>
            </p:extLst>
          </p:nvPr>
        </p:nvGraphicFramePr>
        <p:xfrm>
          <a:off x="809148" y="559319"/>
          <a:ext cx="10835457" cy="5132352"/>
        </p:xfrm>
        <a:graphic>
          <a:graphicData uri="http://schemas.openxmlformats.org/drawingml/2006/table">
            <a:tbl>
              <a:tblPr/>
              <a:tblGrid>
                <a:gridCol w="3611819">
                  <a:extLst>
                    <a:ext uri="{9D8B030D-6E8A-4147-A177-3AD203B41FA5}">
                      <a16:colId xmlns:a16="http://schemas.microsoft.com/office/drawing/2014/main" val="78263102"/>
                    </a:ext>
                  </a:extLst>
                </a:gridCol>
                <a:gridCol w="3611819">
                  <a:extLst>
                    <a:ext uri="{9D8B030D-6E8A-4147-A177-3AD203B41FA5}">
                      <a16:colId xmlns:a16="http://schemas.microsoft.com/office/drawing/2014/main" val="3178625343"/>
                    </a:ext>
                  </a:extLst>
                </a:gridCol>
                <a:gridCol w="3611819">
                  <a:extLst>
                    <a:ext uri="{9D8B030D-6E8A-4147-A177-3AD203B41FA5}">
                      <a16:colId xmlns:a16="http://schemas.microsoft.com/office/drawing/2014/main" val="932569364"/>
                    </a:ext>
                  </a:extLst>
                </a:gridCol>
              </a:tblGrid>
              <a:tr h="49265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 dirty="0">
                          <a:effectLst/>
                        </a:rPr>
                        <a:t>Feature</a:t>
                      </a:r>
                    </a:p>
                  </a:txBody>
                  <a:tcPr marL="57120" marR="57120" marT="57120" marB="571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 dirty="0">
                          <a:effectLst/>
                        </a:rPr>
                        <a:t>Traditional Machine Learning</a:t>
                      </a:r>
                    </a:p>
                  </a:txBody>
                  <a:tcPr marL="57120" marR="57120" marT="57120" marB="571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 dirty="0">
                          <a:effectLst/>
                        </a:rPr>
                        <a:t>Federated Learning</a:t>
                      </a:r>
                    </a:p>
                  </a:txBody>
                  <a:tcPr marL="57120" marR="57120" marT="57120" marB="571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919776"/>
                  </a:ext>
                </a:extLst>
              </a:tr>
              <a:tr h="82940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>
                          <a:effectLst/>
                        </a:rPr>
                        <a:t>Data Storage</a:t>
                      </a:r>
                      <a:endParaRPr lang="en-IN" sz="1600">
                        <a:effectLst/>
                      </a:endParaRPr>
                    </a:p>
                  </a:txBody>
                  <a:tcPr marL="57120" marR="57120" marT="57120" marB="571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b="0" dirty="0">
                          <a:effectLst/>
                        </a:rPr>
                        <a:t>Centralized</a:t>
                      </a:r>
                      <a:r>
                        <a:rPr lang="en-US" sz="1600" dirty="0">
                          <a:effectLst/>
                        </a:rPr>
                        <a:t> (Cloud or Data Center)</a:t>
                      </a:r>
                    </a:p>
                  </a:txBody>
                  <a:tcPr marL="57120" marR="57120" marT="57120" marB="571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0" dirty="0">
                          <a:effectLst/>
                        </a:rPr>
                        <a:t>Decentralized</a:t>
                      </a:r>
                      <a:r>
                        <a:rPr lang="en-IN" sz="1600" dirty="0">
                          <a:effectLst/>
                        </a:rPr>
                        <a:t> (On local devices)</a:t>
                      </a:r>
                    </a:p>
                  </a:txBody>
                  <a:tcPr marL="57120" marR="57120" marT="57120" marB="571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468230"/>
                  </a:ext>
                </a:extLst>
              </a:tr>
              <a:tr h="49265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>
                          <a:effectLst/>
                        </a:rPr>
                        <a:t>Data Privacy</a:t>
                      </a:r>
                      <a:endParaRPr lang="en-IN" sz="1600">
                        <a:effectLst/>
                      </a:endParaRPr>
                    </a:p>
                  </a:txBody>
                  <a:tcPr marL="57120" marR="57120" marT="57120" marB="571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>
                          <a:effectLst/>
                        </a:rPr>
                        <a:t>Raw data is uploaded to a server</a:t>
                      </a:r>
                    </a:p>
                  </a:txBody>
                  <a:tcPr marL="57120" marR="57120" marT="57120" marB="571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dirty="0">
                          <a:effectLst/>
                        </a:rPr>
                        <a:t>Raw data </a:t>
                      </a:r>
                      <a:r>
                        <a:rPr lang="en-US" sz="1600" b="0" dirty="0">
                          <a:effectLst/>
                        </a:rPr>
                        <a:t>never leaves </a:t>
                      </a:r>
                      <a:r>
                        <a:rPr lang="en-US" sz="1600" dirty="0">
                          <a:effectLst/>
                        </a:rPr>
                        <a:t>the device</a:t>
                      </a:r>
                    </a:p>
                  </a:txBody>
                  <a:tcPr marL="57120" marR="57120" marT="57120" marB="571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8246375"/>
                  </a:ext>
                </a:extLst>
              </a:tr>
              <a:tr h="82940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>
                          <a:effectLst/>
                        </a:rPr>
                        <a:t>Model Training</a:t>
                      </a:r>
                      <a:endParaRPr lang="en-IN" sz="1600">
                        <a:effectLst/>
                      </a:endParaRPr>
                    </a:p>
                  </a:txBody>
                  <a:tcPr marL="57120" marR="57120" marT="57120" marB="571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>
                          <a:effectLst/>
                        </a:rPr>
                        <a:t>Trained on one large, combined dataset</a:t>
                      </a:r>
                    </a:p>
                  </a:txBody>
                  <a:tcPr marL="57120" marR="57120" marT="57120" marB="571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>
                          <a:effectLst/>
                        </a:rPr>
                        <a:t>Trained locally on many small datasets</a:t>
                      </a:r>
                    </a:p>
                  </a:txBody>
                  <a:tcPr marL="57120" marR="57120" marT="57120" marB="571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360769"/>
                  </a:ext>
                </a:extLst>
              </a:tr>
              <a:tr h="82940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>
                          <a:effectLst/>
                        </a:rPr>
                        <a:t>Communication</a:t>
                      </a:r>
                      <a:endParaRPr lang="en-IN" sz="1600">
                        <a:effectLst/>
                      </a:endParaRPr>
                    </a:p>
                  </a:txBody>
                  <a:tcPr marL="57120" marR="57120" marT="57120" marB="571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>
                          <a:effectLst/>
                        </a:rPr>
                        <a:t>High bandwidth (sending raw data)</a:t>
                      </a:r>
                    </a:p>
                  </a:txBody>
                  <a:tcPr marL="57120" marR="57120" marT="57120" marB="571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>
                          <a:effectLst/>
                        </a:rPr>
                        <a:t>Low bandwidth (sending model updates)</a:t>
                      </a:r>
                    </a:p>
                  </a:txBody>
                  <a:tcPr marL="57120" marR="57120" marT="57120" marB="571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6483043"/>
                  </a:ext>
                </a:extLst>
              </a:tr>
              <a:tr h="82940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>
                          <a:effectLst/>
                        </a:rPr>
                        <a:t>Compliance</a:t>
                      </a:r>
                      <a:endParaRPr lang="en-IN" sz="1600">
                        <a:effectLst/>
                      </a:endParaRPr>
                    </a:p>
                  </a:txBody>
                  <a:tcPr marL="57120" marR="57120" marT="57120" marB="571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>
                          <a:effectLst/>
                        </a:rPr>
                        <a:t>Harder to meet GDPR/HIPAA rules</a:t>
                      </a:r>
                    </a:p>
                  </a:txBody>
                  <a:tcPr marL="57120" marR="57120" marT="57120" marB="571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>
                          <a:effectLst/>
                        </a:rPr>
                        <a:t>Built-in compliance and security</a:t>
                      </a:r>
                    </a:p>
                  </a:txBody>
                  <a:tcPr marL="57120" marR="57120" marT="57120" marB="571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0622687"/>
                  </a:ext>
                </a:extLst>
              </a:tr>
              <a:tr h="82940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>
                          <a:effectLst/>
                        </a:rPr>
                        <a:t>Use Case</a:t>
                      </a:r>
                      <a:endParaRPr lang="en-IN" sz="1600">
                        <a:effectLst/>
                      </a:endParaRPr>
                    </a:p>
                  </a:txBody>
                  <a:tcPr marL="57120" marR="57120" marT="57120" marB="571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>
                          <a:effectLst/>
                        </a:rPr>
                        <a:t>Big data analytics, weather sensing</a:t>
                      </a:r>
                    </a:p>
                  </a:txBody>
                  <a:tcPr marL="57120" marR="57120" marT="57120" marB="571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dirty="0">
                          <a:effectLst/>
                        </a:rPr>
                        <a:t>Predictive text, medical research, IoT</a:t>
                      </a:r>
                    </a:p>
                  </a:txBody>
                  <a:tcPr marL="57120" marR="57120" marT="57120" marB="571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659012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824476C0-685A-E647-F467-0D8FC4878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1788" y="1451643"/>
            <a:ext cx="65" cy="1313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297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615CE-5642-B48D-C275-3F42BB0BB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211422" cy="1467552"/>
          </a:xfrm>
        </p:spPr>
        <p:txBody>
          <a:bodyPr/>
          <a:lstStyle/>
          <a:p>
            <a:r>
              <a:rPr lang="en-IN" b="1" dirty="0"/>
              <a:t>Federated Learning in depth</a:t>
            </a:r>
            <a:br>
              <a:rPr lang="en-IN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1B248-2C5B-E3F6-94A2-F8906A569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33053" y="2080727"/>
            <a:ext cx="6111551" cy="3974840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Server (Coordinator)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Maintains and updates the global model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Selects clients for each training round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Sends model to clients &amp; aggregates updates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Never accesses raw data 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Clients (Edge Devices)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Examples: smartphones, hospitals, banks, IoT devices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Train model on local private data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Send only model updates (weights) to server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Data stays on device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BF5B36-D2F6-098B-5F6A-3D22875870A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963" y="2479899"/>
            <a:ext cx="4230817" cy="29785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6726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0105B-43CA-972A-AC11-C5516F72D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-184203"/>
            <a:ext cx="10058400" cy="1450757"/>
          </a:xfrm>
        </p:spPr>
        <p:txBody>
          <a:bodyPr/>
          <a:lstStyle/>
          <a:p>
            <a:r>
              <a:rPr lang="en-IN" b="1" dirty="0"/>
              <a:t>Training Workflow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C040F6-E5D6-98C3-8C1B-849B2424CF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2108201"/>
                <a:ext cx="10370042" cy="4208623"/>
              </a:xfrm>
            </p:spPr>
            <p:txBody>
              <a:bodyPr numCol="1">
                <a:noAutofit/>
              </a:bodyPr>
              <a:lstStyle/>
              <a:p>
                <a:r>
                  <a:rPr lang="en-IN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Step 1: Initialize Model</a:t>
                </a:r>
                <a:endParaRPr lang="en-IN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Server initializes global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 sz="16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ar-AE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Sets round counter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6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IN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Step 2: Select Clients</a:t>
                </a:r>
                <a:endParaRPr lang="en-IN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Random subset of clients chosen (≈10–30%) </a:t>
                </a:r>
              </a:p>
              <a:p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Others remain idle </a:t>
                </a:r>
              </a:p>
              <a:p>
                <a:r>
                  <a:rPr lang="en-IN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Step 3: Broadcast Model</a:t>
                </a:r>
                <a:endParaRPr lang="en-IN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Server sends current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to selected clients </a:t>
                </a:r>
              </a:p>
              <a:p>
                <a:r>
                  <a:rPr lang="en-IN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(Often compressed to reduce communication cost)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C040F6-E5D6-98C3-8C1B-849B2424CF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2108201"/>
                <a:ext cx="10370042" cy="4208623"/>
              </a:xfrm>
              <a:blipFill>
                <a:blip r:embed="rId2"/>
                <a:stretch>
                  <a:fillRect l="-294" t="-2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2954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94F9E-CB77-5765-75FA-E303E2C6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-245242"/>
            <a:ext cx="10058400" cy="1450757"/>
          </a:xfrm>
        </p:spPr>
        <p:txBody>
          <a:bodyPr/>
          <a:lstStyle/>
          <a:p>
            <a:r>
              <a:rPr lang="en-IN" b="1" dirty="0"/>
              <a:t>Training Workflow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C5C343-4D6F-41AB-B872-F5158B09C1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79" y="2108201"/>
                <a:ext cx="10136777" cy="4171301"/>
              </a:xfrm>
            </p:spPr>
            <p:txBody>
              <a:bodyPr>
                <a:noAutofit/>
              </a:bodyPr>
              <a:lstStyle/>
              <a:p>
                <a:r>
                  <a:rPr lang="en-IN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Step 4: Local Training</a:t>
                </a:r>
              </a:p>
              <a:p>
                <a:r>
                  <a:rPr lang="en-I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Clients train on their own data for a few epochs </a:t>
                </a:r>
              </a:p>
              <a:p>
                <a:r>
                  <a:rPr lang="en-I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Update model locally:</a:t>
                </a:r>
                <a:br>
                  <a:rPr lang="en-IN" sz="1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1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d>
                          <m:d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 sz="1400" b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sz="1400" b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ar-AE" sz="1400" b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sz="1400" b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1400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ar-AE" sz="1400" b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ar-AE" sz="1400" b="0" smtClean="0"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ar-AE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ar-AE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ar-AE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Only weight updates (</a:t>
                </a:r>
                <a:r>
                  <a:rPr lang="el-G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Δ</a:t>
                </a:r>
                <a:r>
                  <a:rPr lang="en-I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Wₖ) are prepared for upload </a:t>
                </a:r>
              </a:p>
              <a:p>
                <a:r>
                  <a:rPr lang="en-IN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Step 5: Aggregation (</a:t>
                </a:r>
                <a:r>
                  <a:rPr lang="en-IN" sz="14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FedAvg</a:t>
                </a:r>
                <a:r>
                  <a:rPr lang="en-IN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r>
                  <a:rPr lang="en-I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Clients send updates to server </a:t>
                </a:r>
              </a:p>
              <a:p>
                <a:r>
                  <a:rPr lang="en-I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Server computes weighted average:</a:t>
                </a:r>
                <a:br>
                  <a:rPr lang="en-IN" sz="1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sz="1400" b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1400" b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1400" b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1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ar-AE" sz="1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r>
                              <a:rPr lang="ar-AE" sz="1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nary>
                    <m:sSubSup>
                      <m:sSub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1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ar-AE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d>
                          <m:d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 sz="1400" b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sz="1400" b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</m:oMath>
                </a14:m>
                <a:endParaRPr lang="ar-AE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New global model is formed without accessing raw data</a:t>
                </a:r>
              </a:p>
              <a:p>
                <a:endParaRPr lang="en-IN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C5C343-4D6F-41AB-B872-F5158B09C1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79" y="2108201"/>
                <a:ext cx="10136777" cy="4171301"/>
              </a:xfrm>
              <a:blipFill>
                <a:blip r:embed="rId2"/>
                <a:stretch>
                  <a:fillRect l="-180" t="-1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2452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6C97B-088B-F3AB-A397-7AEE5B883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      Training Variants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DE447-11FB-BFC5-5BB6-1487473C3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1. Synchronous FL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All selected clients finish training before aggregation 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More stable, but slower 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2. Asynchronous FL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Server updates whenever a client sends updates 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Faster but less stable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477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04799-0BD2-8AA5-4180-161C841EF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Types of Federated Learning</a:t>
            </a:r>
            <a:br>
              <a:rPr lang="en-IN" dirty="0"/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7129B5-71FC-376F-6480-4820DBAFB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19A9C9-0D29-BF56-38EB-45A4BC56C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000" y="2417256"/>
            <a:ext cx="8429102" cy="25093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2991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8955-881E-11E1-D534-FF0608BA9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Federated Learning</a:t>
            </a:r>
            <a:br>
              <a:rPr lang="en-IN" dirty="0"/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C856A41-E55B-1476-829B-64CF02A5576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99282" y="2360645"/>
            <a:ext cx="5446347" cy="327504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D9841C-14C1-13A2-9937-EEEBA3E9B0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 1. Horizontal Federated Learning</a:t>
            </a:r>
            <a:endParaRPr lang="en-IN" dirty="0"/>
          </a:p>
          <a:p>
            <a:pPr lvl="0"/>
            <a:r>
              <a:rPr lang="en-IN" dirty="0"/>
              <a:t>Same feature space, different users </a:t>
            </a:r>
          </a:p>
          <a:p>
            <a:pPr lvl="0"/>
            <a:r>
              <a:rPr lang="en-IN" dirty="0"/>
              <a:t>Example: Mobile keyboards across users </a:t>
            </a:r>
          </a:p>
          <a:p>
            <a:r>
              <a:rPr lang="en-IN" b="1" dirty="0"/>
              <a:t>2. Vertical Federated Learning</a:t>
            </a:r>
            <a:endParaRPr lang="en-IN" dirty="0"/>
          </a:p>
          <a:p>
            <a:pPr lvl="0"/>
            <a:r>
              <a:rPr lang="en-IN" dirty="0"/>
              <a:t>Same users, different features </a:t>
            </a:r>
          </a:p>
          <a:p>
            <a:pPr lvl="0"/>
            <a:r>
              <a:rPr lang="en-IN" dirty="0"/>
              <a:t>Example: Bank + e-commerce sharing encrypted features </a:t>
            </a:r>
          </a:p>
          <a:p>
            <a:r>
              <a:rPr lang="en-IN" b="1" dirty="0"/>
              <a:t>3. Federated Transfer Learning</a:t>
            </a:r>
            <a:endParaRPr lang="en-IN" dirty="0"/>
          </a:p>
          <a:p>
            <a:pPr lvl="0"/>
            <a:r>
              <a:rPr lang="en-IN" dirty="0"/>
              <a:t>Different users + different features </a:t>
            </a:r>
          </a:p>
          <a:p>
            <a:pPr lvl="0"/>
            <a:r>
              <a:rPr lang="en-IN" dirty="0"/>
              <a:t>Uses transfer learning techniques </a:t>
            </a:r>
          </a:p>
        </p:txBody>
      </p:sp>
    </p:spTree>
    <p:extLst>
      <p:ext uri="{BB962C8B-B14F-4D97-AF65-F5344CB8AC3E}">
        <p14:creationId xmlns:p14="http://schemas.microsoft.com/office/powerpoint/2010/main" val="2555064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EDE86-EB3F-E7A2-F07B-23CB94239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7239" y="398571"/>
            <a:ext cx="10058400" cy="1450757"/>
          </a:xfrm>
        </p:spPr>
        <p:txBody>
          <a:bodyPr/>
          <a:lstStyle/>
          <a:p>
            <a:r>
              <a:rPr lang="en-IN" b="1" dirty="0"/>
              <a:t>Real-World Applications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E1B72-B422-C0EC-9AF9-122ABB058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Healthcare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Hospitals collaboratively train models without sharing patient data.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Finance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Banks detect fraud without exposing sensitive customer data.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Mobile Devices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Predictive keyboards 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Voice recognition </a:t>
            </a:r>
          </a:p>
          <a:p>
            <a:pPr lvl="0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Next-word prediction 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Real-Life Application of Federated Learning: Google Keyboard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Data Collection: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Google Keyboard 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Gboard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 collects data, like the names of restaurants you search for, but keeps it on your phone. Your personal data never leaves your device.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247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A3736-3311-1703-80CB-98233A748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Advantages of Federated Learning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E195A-DA23-FE35-9909-6C60F980B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Reduced Power Usage: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Reduced data size means reduced computation time and hence less power usage.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Guarantees Privacy: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Data stays on the device, maintaining privacy without loss of training.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No Device Performance Impact: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Training is done only when the device is in idle or charging state, hence no impact on performance.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Scalability: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Scales with big, distributed datasets across multiple devices.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Better Model Performance: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Uses heterogeneous data from various devices to improve model accuracy.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Real-time Updates: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Allows real-time model updates on each device.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959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3B56F-37D6-FD51-6921-B01493932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38530"/>
            <a:ext cx="10058400" cy="1450757"/>
          </a:xfrm>
        </p:spPr>
        <p:txBody>
          <a:bodyPr>
            <a:normAutofit/>
          </a:bodyPr>
          <a:lstStyle/>
          <a:p>
            <a:r>
              <a:rPr lang="en-IN" sz="4000" b="1" dirty="0"/>
              <a:t>Disadvantages of Federated Learning</a:t>
            </a:r>
            <a:br>
              <a:rPr lang="en-IN" sz="4000" dirty="0"/>
            </a:b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64C33-7534-DE8C-684A-61FEDF609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Network Latency: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The communication between the devices and the central server can be a bottleneck and may add latency to the training process.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Heterogeneous devices: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devices can be heterogeneous in terms of hardware and software, which can make it difficult to ensure the compatibility and consistency of the models.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Data Quality: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quality of data can vary across the devices, which can lead to poor model performance.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667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F0261-B137-FFF5-826D-5CAF56314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98570"/>
            <a:ext cx="10058400" cy="1450757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/>
              <a:t>References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BDD5A-CE8C-334E-D9E7-A3C1FAA60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IN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https://cloud.google.com/discover/what-is-federated-learning</a:t>
            </a:r>
            <a:endParaRPr lang="en-IN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IN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https://www.researchgate.net/figure/Classification-of-federated-learning-in-10-a-Horizontal-federated-learning-HFL_fig1_378809686</a:t>
            </a:r>
            <a:endParaRPr lang="en-IN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IN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https://onlinelibrary.wiley.com/doi/10.1155/2021/8261663</a:t>
            </a:r>
            <a:endParaRPr lang="en-IN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IN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https://www.youtube.com/watch?v=89BGjQYA0uE</a:t>
            </a:r>
            <a:endParaRPr lang="en-IN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IN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https://www.geeksforgeeks.org/machine-learning/collaborative-learning-federated-learning/</a:t>
            </a:r>
            <a:endParaRPr lang="en-IN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lang="en-IN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https://media.springernature.com/lw685/springer-static/image/chp%3A10.1007%2F978-981-95-3543-9_21/MediaObjects/654870_1_En_21_Fig1_HTML.png</a:t>
            </a:r>
            <a:endParaRPr lang="en-IN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</a:t>
            </a:r>
            <a:r>
              <a:rPr lang="en-IN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https://media.springernature.com/lw685/springer-static/image/art%3A10.1007%2Fs10115-024-02257-6/MediaObjects/10115_2024_2257_Fig8_HTML.png</a:t>
            </a:r>
            <a:endParaRPr lang="en-IN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457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0E668E-A278-3FC7-C2FE-D5A33EF1B4C3}"/>
              </a:ext>
            </a:extLst>
          </p:cNvPr>
          <p:cNvSpPr/>
          <p:nvPr/>
        </p:nvSpPr>
        <p:spPr>
          <a:xfrm>
            <a:off x="3459562" y="1838331"/>
            <a:ext cx="5104923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0969015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{E2E6D2F6-2814-460B-AA73-EABF2FFBF350}TFf0a5ceae-4542-492d-822e-d65a94fb0e1e3b562c5a_win32-009a0557e699</Template>
  <TotalTime>60</TotalTime>
  <Words>913</Words>
  <Application>Microsoft Office PowerPoint</Application>
  <PresentationFormat>Widescreen</PresentationFormat>
  <Paragraphs>118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Bookman Old Style</vt:lpstr>
      <vt:lpstr>Calibri</vt:lpstr>
      <vt:lpstr>Cambria Math</vt:lpstr>
      <vt:lpstr>Franklin Gothic Book</vt:lpstr>
      <vt:lpstr>Custom</vt:lpstr>
      <vt:lpstr>Federated Learning</vt:lpstr>
      <vt:lpstr>Introduction: What is Federated Learning?   </vt:lpstr>
      <vt:lpstr>Traditional Machine Learning vs Federated Learning </vt:lpstr>
      <vt:lpstr>PowerPoint Presentation</vt:lpstr>
      <vt:lpstr>Federated Learning in depth </vt:lpstr>
      <vt:lpstr>Training Workflow</vt:lpstr>
      <vt:lpstr>Training Workflow</vt:lpstr>
      <vt:lpstr>           Training Variants </vt:lpstr>
      <vt:lpstr>  Types of Federated Learning </vt:lpstr>
      <vt:lpstr>Types of Federated Learning </vt:lpstr>
      <vt:lpstr>Real-World Applications </vt:lpstr>
      <vt:lpstr>Advantages of Federated Learning </vt:lpstr>
      <vt:lpstr>Disadvantages of Federated Learning </vt:lpstr>
      <vt:lpstr> 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Debottam Kar</dc:creator>
  <cp:lastModifiedBy>Debottam Kar</cp:lastModifiedBy>
  <cp:revision>16</cp:revision>
  <dcterms:created xsi:type="dcterms:W3CDTF">2026-03-26T03:22:11Z</dcterms:created>
  <dcterms:modified xsi:type="dcterms:W3CDTF">2026-03-26T14:58:57Z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